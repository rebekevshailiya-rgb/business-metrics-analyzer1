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ed12fec46d42d7" /><Relationship Type="http://schemas.openxmlformats.org/officeDocument/2006/relationships/extended-properties" Target="/docProps/app.xml" Id="R45dbafe94d7a4d79" /><Relationship Type="http://schemas.openxmlformats.org/officeDocument/2006/relationships/officeDocument" Target="/ppt/presentation.xml" Id="Rab39917e957a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d831614494361"/>
  </p:sldMasterIdLst>
  <p:notesMasterIdLst>
    <p:notesMasterId xmlns:r="http://schemas.openxmlformats.org/officeDocument/2006/relationships" r:id="R0f9763ee3ae74e0f"/>
  </p:notesMasterIdLst>
  <p:sldIdLst>
    <p:sldId xmlns:r="http://schemas.openxmlformats.org/officeDocument/2006/relationships" id="256" r:id="R492d2a999eb044bc"/>
    <p:sldId xmlns:r="http://schemas.openxmlformats.org/officeDocument/2006/relationships" id="257" r:id="R0d320513f13b4898"/>
    <p:sldId xmlns:r="http://schemas.openxmlformats.org/officeDocument/2006/relationships" id="258" r:id="R50ddf7788b974c7f"/>
    <p:sldId xmlns:r="http://schemas.openxmlformats.org/officeDocument/2006/relationships" id="259" r:id="Rfd45745b2dac4317"/>
    <p:sldId xmlns:r="http://schemas.openxmlformats.org/officeDocument/2006/relationships" id="260" r:id="Re3f9a6b846ed48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e6df3397c4e84" /><Relationship Type="http://schemas.openxmlformats.org/officeDocument/2006/relationships/slideMaster" Target="/ppt/slideMasters/slideMaster1.xml" Id="Rb08d831614494361" /><Relationship Type="http://schemas.openxmlformats.org/officeDocument/2006/relationships/notesMaster" Target="/ppt/notesMasters/notesMaster1.xml" Id="R0f9763ee3ae74e0f" /><Relationship Type="http://schemas.openxmlformats.org/officeDocument/2006/relationships/presProps" Target="/ppt/presProps.xml" Id="R2e479f2fc2104cd8" /><Relationship Type="http://schemas.openxmlformats.org/officeDocument/2006/relationships/tableStyles" Target="/ppt/tableStyles.xml" Id="R64710ccd4fcf42f3" /><Relationship Type="http://schemas.openxmlformats.org/officeDocument/2006/relationships/slide" Target="/ppt/slides/slide1.xml" Id="R492d2a999eb044bc" /><Relationship Type="http://schemas.openxmlformats.org/officeDocument/2006/relationships/slide" Target="/ppt/slides/slide2.xml" Id="R0d320513f13b4898" /><Relationship Type="http://schemas.openxmlformats.org/officeDocument/2006/relationships/slide" Target="/ppt/slides/slide3.xml" Id="R50ddf7788b974c7f" /><Relationship Type="http://schemas.openxmlformats.org/officeDocument/2006/relationships/slide" Target="/ppt/slides/slide4.xml" Id="Rfd45745b2dac4317" /><Relationship Type="http://schemas.openxmlformats.org/officeDocument/2006/relationships/slide" Target="/ppt/slides/slide5.xml" Id="Re3f9a6b846ed48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700c471a06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0ab51bcdd44da" /><Relationship Type="http://schemas.openxmlformats.org/officeDocument/2006/relationships/notesMaster" Target="/ppt/notesMasters/notesMaster1.xml" Id="R8687d30da5c34a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0b7a431284b93" /><Relationship Type="http://schemas.openxmlformats.org/officeDocument/2006/relationships/notesMaster" Target="/ppt/notesMasters/notesMaster1.xml" Id="R3c7d2d903105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30d08e4264a5b" /><Relationship Type="http://schemas.openxmlformats.org/officeDocument/2006/relationships/notesMaster" Target="/ppt/notesMasters/notesMaster1.xml" Id="Rab8802fd9d10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74f5d34d1049ea" /><Relationship Type="http://schemas.openxmlformats.org/officeDocument/2006/relationships/notesMaster" Target="/ppt/notesMasters/notesMaster1.xml" Id="R025d3145882d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7537ddea9e40c8" /><Relationship Type="http://schemas.openxmlformats.org/officeDocument/2006/relationships/notesMaster" Target="/ppt/notesMasters/notesMaster1.xml" Id="Re5af3d33991d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ПЗ_02__ПиРБОПО.pdf, с. 4–10; документы проекта в outputs/pz02_final. Числовые цели — предложения для учебного интервью; внедрение веб-приложения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ПЗ_02__ПиРБОПО.pdf, с. 4–10; документы проекта в outputs/pz02_final. Числовые цели — предложения для учебного интервью; внедрение веб-приложения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ПЗ_02__ПиРБОПО.pdf, с. 4–10; документы проекта в outputs/pz02_final. Числовые цели — предложения для учебного интервью; внедрение веб-приложения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ПЗ_02__ПиРБОПО.pdf, с. 4–10; документы проекта в outputs/pz02_final. Числовые цели — предложения для учебного интервью; внедрение веб-приложения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ПЗ_02__ПиРБОПО.pdf, с. 4–10; документы проекта в outputs/pz02_final. Числовые цели — предложения для учебного интервью; внедрение веб-приложения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b89c896174c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61cd5668b4f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251f061fd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f997a4bb045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4f6373f0540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32953379b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2917BB-14A8-4A6A-97C4-09FB9088C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F0863C-5C4F-4E0F-98FE-7302B5D85A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093883-7AA1-4512-81BA-EF1170A0F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D96352-4A51-49E2-8CBB-FF1886BEC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14E65B-C838-4015-BA99-1A32252B0A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E7CC97-2C10-44D7-A695-C8C444156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720B03-65A6-44C1-BD25-DB7CF4FA9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C050A8-DA5A-49C0-AA77-EA5508BF65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44DC94-12EF-44EB-800A-41402F31A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7B97FB-D447-467A-8AAA-CAD242F5E6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24f39d60a43c4" /><Relationship Type="http://schemas.openxmlformats.org/officeDocument/2006/relationships/slideLayout" Target="/ppt/slideLayouts/slideLayout1.xml" Id="R2924b7737d6b4643" /><Relationship Type="http://schemas.openxmlformats.org/officeDocument/2006/relationships/slideLayout" Target="/ppt/slideLayouts/slideLayout2.xml" Id="R57e795b21daa4817" /><Relationship Type="http://schemas.openxmlformats.org/officeDocument/2006/relationships/slideLayout" Target="/ppt/slideLayouts/slideLayout3.xml" Id="R9d1ba0fafe3641ba" /><Relationship Type="http://schemas.openxmlformats.org/officeDocument/2006/relationships/slideLayout" Target="/ppt/slideLayouts/slideLayout4.xml" Id="R308ec2b0fa844072" /><Relationship Type="http://schemas.openxmlformats.org/officeDocument/2006/relationships/slideLayout" Target="/ppt/slideLayouts/slideLayout5.xml" Id="R4c3d05a075264518" /><Relationship Type="http://schemas.openxmlformats.org/officeDocument/2006/relationships/slideLayout" Target="/ppt/slideLayouts/slideLayout6.xml" Id="Rec63395b852146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4b7737d6b4643"/>
    <p:sldLayoutId xmlns:r="http://schemas.openxmlformats.org/officeDocument/2006/relationships" id="2147483650" r:id="R57e795b21daa4817"/>
    <p:sldLayoutId xmlns:r="http://schemas.openxmlformats.org/officeDocument/2006/relationships" id="2147483651" r:id="R9d1ba0fafe3641ba"/>
    <p:sldLayoutId xmlns:r="http://schemas.openxmlformats.org/officeDocument/2006/relationships" id="2147483652" r:id="R308ec2b0fa844072"/>
    <p:sldLayoutId xmlns:r="http://schemas.openxmlformats.org/officeDocument/2006/relationships" id="2147483653" r:id="R4c3d05a075264518"/>
    <p:sldLayoutId xmlns:r="http://schemas.openxmlformats.org/officeDocument/2006/relationships" id="2147483654" r:id="Rec63395b852146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4bd8a132b4cdd" /><Relationship Type="http://schemas.openxmlformats.org/officeDocument/2006/relationships/notesSlide" Target="/ppt/notesSlides/notesSlide1.xml" Id="R5b0f20a8c8a7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8051b1565449b" /><Relationship Type="http://schemas.openxmlformats.org/officeDocument/2006/relationships/notesSlide" Target="/ppt/notesSlides/notesSlide2.xml" Id="Rf1d037de7cdb48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8b63a9fa647be" /><Relationship Type="http://schemas.openxmlformats.org/officeDocument/2006/relationships/notesSlide" Target="/ppt/notesSlides/notesSlide3.xml" Id="R8c815ca98244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2063b75da4863" /><Relationship Type="http://schemas.openxmlformats.org/officeDocument/2006/relationships/notesSlide" Target="/ppt/notesSlides/notesSlide4.xml" Id="Rc0b8c2d7a64c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d42a173e04ba0" /><Relationship Type="http://schemas.openxmlformats.org/officeDocument/2006/relationships/notesSlide" Target="/ppt/notesSlides/notesSlide5.xml" Id="R55c7e84202214f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A0679-AB57-42C0-9B2B-CB7CCA8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43"/>
                </a:solidFill>
              </a:defRPr>
            </a:defPPr>
            <a:lvl1pPr>
              <a:defRPr sz="3300" b="1">
                <a:solidFill>
                  <a:srgbClr val="102A43"/>
                </a:solidFill>
              </a:defRPr>
            </a:lvl1pPr>
            <a:lvl2pPr>
              <a:defRPr sz="3300" b="1">
                <a:solidFill>
                  <a:srgbClr val="102A43"/>
                </a:solidFill>
              </a:defRPr>
            </a:lvl2pPr>
            <a:lvl3pPr>
              <a:defRPr sz="3300" b="1">
                <a:solidFill>
                  <a:srgbClr val="102A43"/>
                </a:solidFill>
              </a:defRPr>
            </a:lvl3pPr>
            <a:lvl4pPr>
              <a:defRPr sz="3300" b="1">
                <a:solidFill>
                  <a:srgbClr val="102A43"/>
                </a:solidFill>
              </a:defRPr>
            </a:lvl4pPr>
            <a:lvl5pPr>
              <a:defRPr sz="3300" b="1">
                <a:solidFill>
                  <a:srgbClr val="102A43"/>
                </a:solidFill>
              </a:defRPr>
            </a:lvl5pPr>
            <a:lvl6pPr>
              <a:defRPr sz="3300" b="1">
                <a:solidFill>
                  <a:srgbClr val="102A43"/>
                </a:solidFill>
              </a:defRPr>
            </a:lvl6pPr>
            <a:lvl7pPr>
              <a:defRPr sz="3300" b="1">
                <a:solidFill>
                  <a:srgbClr val="102A43"/>
                </a:solidFill>
              </a:defRPr>
            </a:lvl7pPr>
            <a:lvl8pPr>
              <a:defRPr sz="3300" b="1">
                <a:solidFill>
                  <a:srgbClr val="102A43"/>
                </a:solidFill>
              </a:defRPr>
            </a:lvl8pPr>
            <a:lvl9pPr>
              <a:defRPr sz="33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Business Metrics Analyzer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F6C57-B60C-4401-803F-2A908E5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B87"/>
                </a:solidFill>
              </a:defRPr>
            </a:defPPr>
            <a:lvl1pPr>
              <a:defRPr sz="3150" b="1">
                <a:solidFill>
                  <a:srgbClr val="176B87"/>
                </a:solidFill>
              </a:defRPr>
            </a:lvl1pPr>
            <a:lvl2pPr>
              <a:defRPr sz="3150" b="1">
                <a:solidFill>
                  <a:srgbClr val="176B87"/>
                </a:solidFill>
              </a:defRPr>
            </a:lvl2pPr>
            <a:lvl3pPr>
              <a:defRPr sz="3150" b="1">
                <a:solidFill>
                  <a:srgbClr val="176B87"/>
                </a:solidFill>
              </a:defRPr>
            </a:lvl3pPr>
            <a:lvl4pPr>
              <a:defRPr sz="3150" b="1">
                <a:solidFill>
                  <a:srgbClr val="176B87"/>
                </a:solidFill>
              </a:defRPr>
            </a:lvl4pPr>
            <a:lvl5pPr>
              <a:defRPr sz="3150" b="1">
                <a:solidFill>
                  <a:srgbClr val="176B87"/>
                </a:solidFill>
              </a:defRPr>
            </a:lvl5pPr>
            <a:lvl6pPr>
              <a:defRPr sz="3150" b="1">
                <a:solidFill>
                  <a:srgbClr val="176B87"/>
                </a:solidFill>
              </a:defRPr>
            </a:lvl6pPr>
            <a:lvl7pPr>
              <a:defRPr sz="3150" b="1">
                <a:solidFill>
                  <a:srgbClr val="176B87"/>
                </a:solidFill>
              </a:defRPr>
            </a:lvl7pPr>
            <a:lvl8pPr>
              <a:defRPr sz="3150" b="1">
                <a:solidFill>
                  <a:srgbClr val="176B87"/>
                </a:solidFill>
              </a:defRPr>
            </a:lvl8pPr>
            <a:lvl9pPr>
              <a:defRPr sz="315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6B87"/>
                </a:solidFill>
              </a:defRPr>
            </a:pPr>
            <a:r>
              <a:rPr sz="3150" b="1">
                <a:solidFill>
                  <a:srgbClr val="176B87"/>
                </a:solidFill>
              </a:rPr>
              <a:t>Анализ требований к приложению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71606-AE8B-4676-A1FF-8C05B97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77C"/>
                </a:solidFill>
              </a:defRPr>
            </a:defPPr>
            <a:lvl1pPr>
              <a:defRPr sz="2250" b="0">
                <a:solidFill>
                  <a:srgbClr val="52677C"/>
                </a:solidFill>
              </a:defRPr>
            </a:lvl1pPr>
            <a:lvl2pPr>
              <a:defRPr sz="2250" b="0">
                <a:solidFill>
                  <a:srgbClr val="52677C"/>
                </a:solidFill>
              </a:defRPr>
            </a:lvl2pPr>
            <a:lvl3pPr>
              <a:defRPr sz="2250" b="0">
                <a:solidFill>
                  <a:srgbClr val="52677C"/>
                </a:solidFill>
              </a:defRPr>
            </a:lvl3pPr>
            <a:lvl4pPr>
              <a:defRPr sz="2250" b="0">
                <a:solidFill>
                  <a:srgbClr val="52677C"/>
                </a:solidFill>
              </a:defRPr>
            </a:lvl4pPr>
            <a:lvl5pPr>
              <a:defRPr sz="2250" b="0">
                <a:solidFill>
                  <a:srgbClr val="52677C"/>
                </a:solidFill>
              </a:defRPr>
            </a:lvl5pPr>
            <a:lvl6pPr>
              <a:defRPr sz="2250" b="0">
                <a:solidFill>
                  <a:srgbClr val="52677C"/>
                </a:solidFill>
              </a:defRPr>
            </a:lvl6pPr>
            <a:lvl7pPr>
              <a:defRPr sz="2250" b="0">
                <a:solidFill>
                  <a:srgbClr val="52677C"/>
                </a:solidFill>
              </a:defRPr>
            </a:lvl7pPr>
            <a:lvl8pPr>
              <a:defRPr sz="2250" b="0">
                <a:solidFill>
                  <a:srgbClr val="52677C"/>
                </a:solidFill>
              </a:defRPr>
            </a:lvl8pPr>
            <a:lvl9pPr>
              <a:defRPr sz="2250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77C"/>
                </a:solidFill>
              </a:defRPr>
            </a:pPr>
            <a:r>
              <a:rPr sz="2250" b="0">
                <a:solidFill>
                  <a:srgbClr val="52677C"/>
                </a:solidFill>
              </a:rPr>
              <a:t>Практическое занятие №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B47A4-48A4-44B9-875E-7C0C1C19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ООО «Ритейл-Аналитика»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A35C0-463A-42B2-AB72-633829B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43B53"/>
                </a:solidFill>
              </a:defRPr>
            </a:defPPr>
            <a:lvl1pPr>
              <a:defRPr sz="2400" b="0">
                <a:solidFill>
                  <a:srgbClr val="243B53"/>
                </a:solidFill>
              </a:defRPr>
            </a:lvl1pPr>
            <a:lvl2pPr>
              <a:defRPr sz="2400" b="0">
                <a:solidFill>
                  <a:srgbClr val="243B53"/>
                </a:solidFill>
              </a:defRPr>
            </a:lvl2pPr>
            <a:lvl3pPr>
              <a:defRPr sz="2400" b="0">
                <a:solidFill>
                  <a:srgbClr val="243B53"/>
                </a:solidFill>
              </a:defRPr>
            </a:lvl3pPr>
            <a:lvl4pPr>
              <a:defRPr sz="2400" b="0">
                <a:solidFill>
                  <a:srgbClr val="243B53"/>
                </a:solidFill>
              </a:defRPr>
            </a:lvl4pPr>
            <a:lvl5pPr>
              <a:defRPr sz="2400" b="0">
                <a:solidFill>
                  <a:srgbClr val="243B53"/>
                </a:solidFill>
              </a:defRPr>
            </a:lvl5pPr>
            <a:lvl6pPr>
              <a:defRPr sz="2400" b="0">
                <a:solidFill>
                  <a:srgbClr val="243B53"/>
                </a:solidFill>
              </a:defRPr>
            </a:lvl6pPr>
            <a:lvl7pPr>
              <a:defRPr sz="2400" b="0">
                <a:solidFill>
                  <a:srgbClr val="243B53"/>
                </a:solidFill>
              </a:defRPr>
            </a:lvl7pPr>
            <a:lvl8pPr>
              <a:defRPr sz="2400" b="0">
                <a:solidFill>
                  <a:srgbClr val="243B53"/>
                </a:solidFill>
              </a:defRPr>
            </a:lvl8pPr>
            <a:lvl9pPr>
              <a:defRPr sz="24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B53"/>
                </a:solidFill>
              </a:defRPr>
            </a:pPr>
            <a:r>
              <a:rPr sz="2400" b="0">
                <a:solidFill>
                  <a:srgbClr val="243B53"/>
                </a:solidFill>
              </a:rPr>
              <a:t>Отчёты о продажах готовятся вручную в Excel</a:t>
            </a:r>
          </a:p>
          <a:p xmlns:a="http://schemas.openxmlformats.org/drawingml/2006/main">
            <a:pPr>
              <a:defRPr sz="2400" b="0">
                <a:solidFill>
                  <a:srgbClr val="243B53"/>
                </a:solidFill>
              </a:defRPr>
            </a:pPr>
            <a:r>
              <a:rPr sz="2400" b="0">
                <a:solidFill>
                  <a:srgbClr val="243B53"/>
                </a:solidFill>
              </a:rPr>
              <a:t>и занимают 2–3 дня.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A1BF9-FB35-4DF1-BC15-AF45E56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B53"/>
                </a:solidFill>
              </a:defRPr>
            </a:defPPr>
            <a:lvl1pPr>
              <a:defRPr sz="2250" b="0">
                <a:solidFill>
                  <a:srgbClr val="243B53"/>
                </a:solidFill>
              </a:defRPr>
            </a:lvl1pPr>
            <a:lvl2pPr>
              <a:defRPr sz="2250" b="0">
                <a:solidFill>
                  <a:srgbClr val="243B53"/>
                </a:solidFill>
              </a:defRPr>
            </a:lvl2pPr>
            <a:lvl3pPr>
              <a:defRPr sz="2250" b="0">
                <a:solidFill>
                  <a:srgbClr val="243B53"/>
                </a:solidFill>
              </a:defRPr>
            </a:lvl3pPr>
            <a:lvl4pPr>
              <a:defRPr sz="2250" b="0">
                <a:solidFill>
                  <a:srgbClr val="243B53"/>
                </a:solidFill>
              </a:defRPr>
            </a:lvl4pPr>
            <a:lvl5pPr>
              <a:defRPr sz="2250" b="0">
                <a:solidFill>
                  <a:srgbClr val="243B53"/>
                </a:solidFill>
              </a:defRPr>
            </a:lvl5pPr>
            <a:lvl6pPr>
              <a:defRPr sz="2250" b="0">
                <a:solidFill>
                  <a:srgbClr val="243B53"/>
                </a:solidFill>
              </a:defRPr>
            </a:lvl6pPr>
            <a:lvl7pPr>
              <a:defRPr sz="2250" b="0">
                <a:solidFill>
                  <a:srgbClr val="243B53"/>
                </a:solidFill>
              </a:defRPr>
            </a:lvl7pPr>
            <a:lvl8pPr>
              <a:defRPr sz="2250" b="0">
                <a:solidFill>
                  <a:srgbClr val="243B53"/>
                </a:solidFill>
              </a:defRPr>
            </a:lvl8pPr>
            <a:lvl9pPr>
              <a:defRPr sz="22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B53"/>
                </a:solidFill>
              </a:defRPr>
            </a:pPr>
            <a:r>
              <a:rPr sz="2250" b="0">
                <a:solidFill>
                  <a:srgbClr val="243B53"/>
                </a:solidFill>
              </a:rPr>
              <a:t>Цель: автоматизировать расчёт и просмотр KPI продаж.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9DF9E-1214-40DE-8220-A41AD3D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C"/>
                </a:solidFill>
              </a:defRPr>
            </a:defPPr>
            <a:lvl1pPr>
              <a:defRPr sz="1800" b="0">
                <a:solidFill>
                  <a:srgbClr val="52677C"/>
                </a:solidFill>
              </a:defRPr>
            </a:lvl1pPr>
            <a:lvl2pPr>
              <a:defRPr sz="1800" b="0">
                <a:solidFill>
                  <a:srgbClr val="52677C"/>
                </a:solidFill>
              </a:defRPr>
            </a:lvl2pPr>
            <a:lvl3pPr>
              <a:defRPr sz="1800" b="0">
                <a:solidFill>
                  <a:srgbClr val="52677C"/>
                </a:solidFill>
              </a:defRPr>
            </a:lvl3pPr>
            <a:lvl4pPr>
              <a:defRPr sz="1800" b="0">
                <a:solidFill>
                  <a:srgbClr val="52677C"/>
                </a:solidFill>
              </a:defRPr>
            </a:lvl4pPr>
            <a:lvl5pPr>
              <a:defRPr sz="1800" b="0">
                <a:solidFill>
                  <a:srgbClr val="52677C"/>
                </a:solidFill>
              </a:defRPr>
            </a:lvl5pPr>
            <a:lvl6pPr>
              <a:defRPr sz="1800" b="0">
                <a:solidFill>
                  <a:srgbClr val="52677C"/>
                </a:solidFill>
              </a:defRPr>
            </a:lvl6pPr>
            <a:lvl7pPr>
              <a:defRPr sz="1800" b="0">
                <a:solidFill>
                  <a:srgbClr val="52677C"/>
                </a:solidFill>
              </a:defRPr>
            </a:lvl7pPr>
            <a:lvl8pPr>
              <a:defRPr sz="1800" b="0">
                <a:solidFill>
                  <a:srgbClr val="52677C"/>
                </a:solidFill>
              </a:defRPr>
            </a:lvl8pPr>
            <a:lvl9pPr>
              <a:defRPr sz="1800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C"/>
                </a:solidFill>
              </a:defRPr>
            </a:pPr>
            <a:r>
              <a:rPr sz="1800" b="0">
                <a:solidFill>
                  <a:srgbClr val="52677C"/>
                </a:solidFill>
              </a:rPr>
              <a:t>Команда: Михаил · Саша · Илья</a:t>
            </a:r>
          </a:p>
        </p:txBody>
      </p:sp>
    </p:spTree>
    <p:extLst>
      <p:ext uri="{BB962C8B-B14F-4D97-AF65-F5344CB8AC3E}">
        <p14:creationId xmlns:p14="http://schemas.microsoft.com/office/powerpoint/2010/main" val="701752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137E-7CCB-47AE-B2C9-49DA4B9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43"/>
                </a:solidFill>
              </a:defRPr>
            </a:defPPr>
            <a:lvl1pPr>
              <a:defRPr sz="3300" b="1">
                <a:solidFill>
                  <a:srgbClr val="102A43"/>
                </a:solidFill>
              </a:defRPr>
            </a:lvl1pPr>
            <a:lvl2pPr>
              <a:defRPr sz="3300" b="1">
                <a:solidFill>
                  <a:srgbClr val="102A43"/>
                </a:solidFill>
              </a:defRPr>
            </a:lvl2pPr>
            <a:lvl3pPr>
              <a:defRPr sz="3300" b="1">
                <a:solidFill>
                  <a:srgbClr val="102A43"/>
                </a:solidFill>
              </a:defRPr>
            </a:lvl3pPr>
            <a:lvl4pPr>
              <a:defRPr sz="3300" b="1">
                <a:solidFill>
                  <a:srgbClr val="102A43"/>
                </a:solidFill>
              </a:defRPr>
            </a:lvl4pPr>
            <a:lvl5pPr>
              <a:defRPr sz="3300" b="1">
                <a:solidFill>
                  <a:srgbClr val="102A43"/>
                </a:solidFill>
              </a:defRPr>
            </a:lvl5pPr>
            <a:lvl6pPr>
              <a:defRPr sz="3300" b="1">
                <a:solidFill>
                  <a:srgbClr val="102A43"/>
                </a:solidFill>
              </a:defRPr>
            </a:lvl6pPr>
            <a:lvl7pPr>
              <a:defRPr sz="3300" b="1">
                <a:solidFill>
                  <a:srgbClr val="102A43"/>
                </a:solidFill>
              </a:defRPr>
            </a:lvl7pPr>
            <a:lvl8pPr>
              <a:defRPr sz="3300" b="1">
                <a:solidFill>
                  <a:srgbClr val="102A43"/>
                </a:solidFill>
              </a:defRPr>
            </a:lvl8pPr>
            <a:lvl9pPr>
              <a:defRPr sz="33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Бизнес-процесс AS-IS и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955F-77C7-40AE-AAA7-5CDEE50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6B87"/>
                </a:solidFill>
              </a:defRPr>
            </a:defPPr>
            <a:lvl1pPr>
              <a:defRPr sz="2400" b="1">
                <a:solidFill>
                  <a:srgbClr val="176B87"/>
                </a:solidFill>
              </a:defRPr>
            </a:lvl1pPr>
            <a:lvl2pPr>
              <a:defRPr sz="2400" b="1">
                <a:solidFill>
                  <a:srgbClr val="176B87"/>
                </a:solidFill>
              </a:defRPr>
            </a:lvl2pPr>
            <a:lvl3pPr>
              <a:defRPr sz="2400" b="1">
                <a:solidFill>
                  <a:srgbClr val="176B87"/>
                </a:solidFill>
              </a:defRPr>
            </a:lvl3pPr>
            <a:lvl4pPr>
              <a:defRPr sz="2400" b="1">
                <a:solidFill>
                  <a:srgbClr val="176B87"/>
                </a:solidFill>
              </a:defRPr>
            </a:lvl4pPr>
            <a:lvl5pPr>
              <a:defRPr sz="2400" b="1">
                <a:solidFill>
                  <a:srgbClr val="176B87"/>
                </a:solidFill>
              </a:defRPr>
            </a:lvl5pPr>
            <a:lvl6pPr>
              <a:defRPr sz="2400" b="1">
                <a:solidFill>
                  <a:srgbClr val="176B87"/>
                </a:solidFill>
              </a:defRPr>
            </a:lvl6pPr>
            <a:lvl7pPr>
              <a:defRPr sz="2400" b="1">
                <a:solidFill>
                  <a:srgbClr val="176B87"/>
                </a:solidFill>
              </a:defRPr>
            </a:lvl7pPr>
            <a:lvl8pPr>
              <a:defRPr sz="2400" b="1">
                <a:solidFill>
                  <a:srgbClr val="176B87"/>
                </a:solidFill>
              </a:defRPr>
            </a:lvl8pPr>
            <a:lvl9pPr>
              <a:defRPr sz="240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6B87"/>
                </a:solidFill>
              </a:defRPr>
            </a:pPr>
            <a:r>
              <a:rPr sz="2400" b="1">
                <a:solidFill>
                  <a:srgbClr val="176B87"/>
                </a:solidFill>
              </a:rPr>
              <a:t>AS-IS · как есть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E5C29-1811-477C-8739-AA34B371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095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B53"/>
                </a:solidFill>
              </a:defRPr>
            </a:defPPr>
            <a:lvl1pPr>
              <a:defRPr sz="2025" b="0">
                <a:solidFill>
                  <a:srgbClr val="243B53"/>
                </a:solidFill>
              </a:defRPr>
            </a:lvl1pPr>
            <a:lvl2pPr>
              <a:defRPr sz="2025" b="0">
                <a:solidFill>
                  <a:srgbClr val="243B53"/>
                </a:solidFill>
              </a:defRPr>
            </a:lvl2pPr>
            <a:lvl3pPr>
              <a:defRPr sz="2025" b="0">
                <a:solidFill>
                  <a:srgbClr val="243B53"/>
                </a:solidFill>
              </a:defRPr>
            </a:lvl3pPr>
            <a:lvl4pPr>
              <a:defRPr sz="2025" b="0">
                <a:solidFill>
                  <a:srgbClr val="243B53"/>
                </a:solidFill>
              </a:defRPr>
            </a:lvl4pPr>
            <a:lvl5pPr>
              <a:defRPr sz="2025" b="0">
                <a:solidFill>
                  <a:srgbClr val="243B53"/>
                </a:solidFill>
              </a:defRPr>
            </a:lvl5pPr>
            <a:lvl6pPr>
              <a:defRPr sz="2025" b="0">
                <a:solidFill>
                  <a:srgbClr val="243B53"/>
                </a:solidFill>
              </a:defRPr>
            </a:lvl6pPr>
            <a:lvl7pPr>
              <a:defRPr sz="2025" b="0">
                <a:solidFill>
                  <a:srgbClr val="243B53"/>
                </a:solidFill>
              </a:defRPr>
            </a:lvl7pPr>
            <a:lvl8pPr>
              <a:defRPr sz="2025" b="0">
                <a:solidFill>
                  <a:srgbClr val="243B53"/>
                </a:solidFill>
              </a:defRPr>
            </a:lvl8pPr>
            <a:lvl9pPr>
              <a:defRPr sz="20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Менеджеры ведут отдельные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Аналитик объединяет файлы и проверяет данные вручную.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KPI рассчитываются в Excel.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Руководство получает отчёт через 2–3 дня.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B442E-2A4F-4698-A132-A7B78FC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6B87"/>
                </a:solidFill>
              </a:defRPr>
            </a:defPPr>
            <a:lvl1pPr>
              <a:defRPr sz="2400" b="1">
                <a:solidFill>
                  <a:srgbClr val="176B87"/>
                </a:solidFill>
              </a:defRPr>
            </a:lvl1pPr>
            <a:lvl2pPr>
              <a:defRPr sz="2400" b="1">
                <a:solidFill>
                  <a:srgbClr val="176B87"/>
                </a:solidFill>
              </a:defRPr>
            </a:lvl2pPr>
            <a:lvl3pPr>
              <a:defRPr sz="2400" b="1">
                <a:solidFill>
                  <a:srgbClr val="176B87"/>
                </a:solidFill>
              </a:defRPr>
            </a:lvl3pPr>
            <a:lvl4pPr>
              <a:defRPr sz="2400" b="1">
                <a:solidFill>
                  <a:srgbClr val="176B87"/>
                </a:solidFill>
              </a:defRPr>
            </a:lvl4pPr>
            <a:lvl5pPr>
              <a:defRPr sz="2400" b="1">
                <a:solidFill>
                  <a:srgbClr val="176B87"/>
                </a:solidFill>
              </a:defRPr>
            </a:lvl5pPr>
            <a:lvl6pPr>
              <a:defRPr sz="2400" b="1">
                <a:solidFill>
                  <a:srgbClr val="176B87"/>
                </a:solidFill>
              </a:defRPr>
            </a:lvl6pPr>
            <a:lvl7pPr>
              <a:defRPr sz="2400" b="1">
                <a:solidFill>
                  <a:srgbClr val="176B87"/>
                </a:solidFill>
              </a:defRPr>
            </a:lvl7pPr>
            <a:lvl8pPr>
              <a:defRPr sz="2400" b="1">
                <a:solidFill>
                  <a:srgbClr val="176B87"/>
                </a:solidFill>
              </a:defRPr>
            </a:lvl8pPr>
            <a:lvl9pPr>
              <a:defRPr sz="240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6B87"/>
                </a:solidFill>
              </a:defRPr>
            </a:pPr>
            <a:r>
              <a:rPr sz="2400" b="1">
                <a:solidFill>
                  <a:srgbClr val="176B87"/>
                </a:solidFill>
              </a:rPr>
              <a:t>TO-BE · как будет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F3F71-6552-4D0E-AE70-2D836F1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095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B53"/>
                </a:solidFill>
              </a:defRPr>
            </a:defPPr>
            <a:lvl1pPr>
              <a:defRPr sz="2025" b="0">
                <a:solidFill>
                  <a:srgbClr val="243B53"/>
                </a:solidFill>
              </a:defRPr>
            </a:lvl1pPr>
            <a:lvl2pPr>
              <a:defRPr sz="2025" b="0">
                <a:solidFill>
                  <a:srgbClr val="243B53"/>
                </a:solidFill>
              </a:defRPr>
            </a:lvl2pPr>
            <a:lvl3pPr>
              <a:defRPr sz="2025" b="0">
                <a:solidFill>
                  <a:srgbClr val="243B53"/>
                </a:solidFill>
              </a:defRPr>
            </a:lvl3pPr>
            <a:lvl4pPr>
              <a:defRPr sz="2025" b="0">
                <a:solidFill>
                  <a:srgbClr val="243B53"/>
                </a:solidFill>
              </a:defRPr>
            </a:lvl4pPr>
            <a:lvl5pPr>
              <a:defRPr sz="2025" b="0">
                <a:solidFill>
                  <a:srgbClr val="243B53"/>
                </a:solidFill>
              </a:defRPr>
            </a:lvl5pPr>
            <a:lvl6pPr>
              <a:defRPr sz="2025" b="0">
                <a:solidFill>
                  <a:srgbClr val="243B53"/>
                </a:solidFill>
              </a:defRPr>
            </a:lvl6pPr>
            <a:lvl7pPr>
              <a:defRPr sz="2025" b="0">
                <a:solidFill>
                  <a:srgbClr val="243B53"/>
                </a:solidFill>
              </a:defRPr>
            </a:lvl7pPr>
            <a:lvl8pPr>
              <a:defRPr sz="2025" b="0">
                <a:solidFill>
                  <a:srgbClr val="243B53"/>
                </a:solidFill>
              </a:defRPr>
            </a:lvl8pPr>
            <a:lvl9pPr>
              <a:defRPr sz="20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Менеджер загружает CSV или XLSX.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Система проверяет данные и рассчитывает четыре KPI.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Пользователь выбирает период и просматривает отчёт.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Доступ ограничен ролью и областью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DF55A-2D44-4F29-81DE-B6F8387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77C"/>
                </a:solidFill>
              </a:defRPr>
            </a:defPPr>
            <a:lvl1pPr>
              <a:defRPr sz="1875" b="0">
                <a:solidFill>
                  <a:srgbClr val="52677C"/>
                </a:solidFill>
              </a:defRPr>
            </a:lvl1pPr>
            <a:lvl2pPr>
              <a:defRPr sz="1875" b="0">
                <a:solidFill>
                  <a:srgbClr val="52677C"/>
                </a:solidFill>
              </a:defRPr>
            </a:lvl2pPr>
            <a:lvl3pPr>
              <a:defRPr sz="1875" b="0">
                <a:solidFill>
                  <a:srgbClr val="52677C"/>
                </a:solidFill>
              </a:defRPr>
            </a:lvl3pPr>
            <a:lvl4pPr>
              <a:defRPr sz="1875" b="0">
                <a:solidFill>
                  <a:srgbClr val="52677C"/>
                </a:solidFill>
              </a:defRPr>
            </a:lvl4pPr>
            <a:lvl5pPr>
              <a:defRPr sz="1875" b="0">
                <a:solidFill>
                  <a:srgbClr val="52677C"/>
                </a:solidFill>
              </a:defRPr>
            </a:lvl5pPr>
            <a:lvl6pPr>
              <a:defRPr sz="1875" b="0">
                <a:solidFill>
                  <a:srgbClr val="52677C"/>
                </a:solidFill>
              </a:defRPr>
            </a:lvl6pPr>
            <a:lvl7pPr>
              <a:defRPr sz="1875" b="0">
                <a:solidFill>
                  <a:srgbClr val="52677C"/>
                </a:solidFill>
              </a:defRPr>
            </a:lvl7pPr>
            <a:lvl8pPr>
              <a:defRPr sz="1875" b="0">
                <a:solidFill>
                  <a:srgbClr val="52677C"/>
                </a:solidFill>
              </a:defRPr>
            </a:lvl8pPr>
            <a:lvl9pPr>
              <a:defRPr sz="1875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7C"/>
                </a:solidFill>
              </a:defRPr>
            </a:pPr>
            <a:r>
              <a:rPr sz="1875" b="0">
                <a:solidFill>
                  <a:srgbClr val="52677C"/>
                </a:solidFill>
              </a:rPr>
              <a:t>Предлагаемая цель: стандартный отчёт за ≤ 10 минут после получения корректного файла.</a:t>
            </a:r>
          </a:p>
        </p:txBody>
      </p:sp>
    </p:spTree>
    <p:extLst>
      <p:ext uri="{BB962C8B-B14F-4D97-AF65-F5344CB8AC3E}">
        <p14:creationId xmlns:p14="http://schemas.microsoft.com/office/powerpoint/2010/main" val="1417778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89DE2-55B6-49B6-B1C0-96BB424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43"/>
                </a:solidFill>
              </a:defRPr>
            </a:defPPr>
            <a:lvl1pPr>
              <a:defRPr sz="3300" b="1">
                <a:solidFill>
                  <a:srgbClr val="102A43"/>
                </a:solidFill>
              </a:defRPr>
            </a:lvl1pPr>
            <a:lvl2pPr>
              <a:defRPr sz="3300" b="1">
                <a:solidFill>
                  <a:srgbClr val="102A43"/>
                </a:solidFill>
              </a:defRPr>
            </a:lvl2pPr>
            <a:lvl3pPr>
              <a:defRPr sz="3300" b="1">
                <a:solidFill>
                  <a:srgbClr val="102A43"/>
                </a:solidFill>
              </a:defRPr>
            </a:lvl3pPr>
            <a:lvl4pPr>
              <a:defRPr sz="3300" b="1">
                <a:solidFill>
                  <a:srgbClr val="102A43"/>
                </a:solidFill>
              </a:defRPr>
            </a:lvl4pPr>
            <a:lvl5pPr>
              <a:defRPr sz="3300" b="1">
                <a:solidFill>
                  <a:srgbClr val="102A43"/>
                </a:solidFill>
              </a:defRPr>
            </a:lvl5pPr>
            <a:lvl6pPr>
              <a:defRPr sz="3300" b="1">
                <a:solidFill>
                  <a:srgbClr val="102A43"/>
                </a:solidFill>
              </a:defRPr>
            </a:lvl6pPr>
            <a:lvl7pPr>
              <a:defRPr sz="3300" b="1">
                <a:solidFill>
                  <a:srgbClr val="102A43"/>
                </a:solidFill>
              </a:defRPr>
            </a:lvl7pPr>
            <a:lvl8pPr>
              <a:defRPr sz="3300" b="1">
                <a:solidFill>
                  <a:srgbClr val="102A43"/>
                </a:solidFill>
              </a:defRPr>
            </a:lvl8pPr>
            <a:lvl9pPr>
              <a:defRPr sz="33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Требования и критерии качества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6A990-C6D1-4395-8D79-576CAFA0E668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977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Категория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Пример требования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Бизнес-требования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Сократить ручную подготовку отчётов и дать руководству актуальные KPI.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Функциональные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Загрузка CSV/XLSX, расчёт KPI, фильтры, отчёты и экспорт в Excel.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Нефункциональные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Обновление дашборда ≤ 3 с; проверка прав; загрузка без частичного сохранения.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49526-0020-49CA-AAB2-EDD1047E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6B87"/>
                </a:solidFill>
              </a:defRPr>
            </a:defPPr>
            <a:lvl1pPr>
              <a:defRPr sz="2100" b="1">
                <a:solidFill>
                  <a:srgbClr val="176B87"/>
                </a:solidFill>
              </a:defRPr>
            </a:lvl1pPr>
            <a:lvl2pPr>
              <a:defRPr sz="2100" b="1">
                <a:solidFill>
                  <a:srgbClr val="176B87"/>
                </a:solidFill>
              </a:defRPr>
            </a:lvl2pPr>
            <a:lvl3pPr>
              <a:defRPr sz="2100" b="1">
                <a:solidFill>
                  <a:srgbClr val="176B87"/>
                </a:solidFill>
              </a:defRPr>
            </a:lvl3pPr>
            <a:lvl4pPr>
              <a:defRPr sz="2100" b="1">
                <a:solidFill>
                  <a:srgbClr val="176B87"/>
                </a:solidFill>
              </a:defRPr>
            </a:lvl4pPr>
            <a:lvl5pPr>
              <a:defRPr sz="2100" b="1">
                <a:solidFill>
                  <a:srgbClr val="176B87"/>
                </a:solidFill>
              </a:defRPr>
            </a:lvl5pPr>
            <a:lvl6pPr>
              <a:defRPr sz="2100" b="1">
                <a:solidFill>
                  <a:srgbClr val="176B87"/>
                </a:solidFill>
              </a:defRPr>
            </a:lvl6pPr>
            <a:lvl7pPr>
              <a:defRPr sz="2100" b="1">
                <a:solidFill>
                  <a:srgbClr val="176B87"/>
                </a:solidFill>
              </a:defRPr>
            </a:lvl7pPr>
            <a:lvl8pPr>
              <a:defRPr sz="2100" b="1">
                <a:solidFill>
                  <a:srgbClr val="176B87"/>
                </a:solidFill>
              </a:defRPr>
            </a:lvl8pPr>
            <a:lvl9pPr>
              <a:defRPr sz="210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6B87"/>
                </a:solidFill>
              </a:defRPr>
            </a:pPr>
            <a:r>
              <a:rPr sz="2100" b="1">
                <a:solidFill>
                  <a:srgbClr val="176B87"/>
                </a:solidFill>
              </a:rPr>
              <a:t>KPI: выручка · средний чек · конверсия · рентабельность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19172-53CA-4302-9F01-93EB95C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C"/>
                </a:solidFill>
              </a:defRPr>
            </a:defPPr>
            <a:lvl1pPr>
              <a:defRPr sz="1800" b="0">
                <a:solidFill>
                  <a:srgbClr val="52677C"/>
                </a:solidFill>
              </a:defRPr>
            </a:lvl1pPr>
            <a:lvl2pPr>
              <a:defRPr sz="1800" b="0">
                <a:solidFill>
                  <a:srgbClr val="52677C"/>
                </a:solidFill>
              </a:defRPr>
            </a:lvl2pPr>
            <a:lvl3pPr>
              <a:defRPr sz="1800" b="0">
                <a:solidFill>
                  <a:srgbClr val="52677C"/>
                </a:solidFill>
              </a:defRPr>
            </a:lvl3pPr>
            <a:lvl4pPr>
              <a:defRPr sz="1800" b="0">
                <a:solidFill>
                  <a:srgbClr val="52677C"/>
                </a:solidFill>
              </a:defRPr>
            </a:lvl4pPr>
            <a:lvl5pPr>
              <a:defRPr sz="1800" b="0">
                <a:solidFill>
                  <a:srgbClr val="52677C"/>
                </a:solidFill>
              </a:defRPr>
            </a:lvl5pPr>
            <a:lvl6pPr>
              <a:defRPr sz="1800" b="0">
                <a:solidFill>
                  <a:srgbClr val="52677C"/>
                </a:solidFill>
              </a:defRPr>
            </a:lvl6pPr>
            <a:lvl7pPr>
              <a:defRPr sz="1800" b="0">
                <a:solidFill>
                  <a:srgbClr val="52677C"/>
                </a:solidFill>
              </a:defRPr>
            </a:lvl7pPr>
            <a:lvl8pPr>
              <a:defRPr sz="1800" b="0">
                <a:solidFill>
                  <a:srgbClr val="52677C"/>
                </a:solidFill>
              </a:defRPr>
            </a:lvl8pPr>
            <a:lvl9pPr>
              <a:defRPr sz="1800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C"/>
                </a:solidFill>
              </a:defRPr>
            </a:pPr>
            <a:r>
              <a:rPr sz="1800" b="0">
                <a:solidFill>
                  <a:srgbClr val="52677C"/>
                </a:solidFill>
              </a:rPr>
              <a:t>Условие проверки скорости: до 10 000 сделок и 10 пользователей одновременно.</a:t>
            </a:r>
          </a:p>
          <a:p xmlns:a="http://schemas.openxmlformats.org/drawingml/2006/main">
            <a:pPr>
              <a:defRPr sz="1800" b="0">
                <a:solidFill>
                  <a:srgbClr val="52677C"/>
                </a:solidFill>
              </a:defRPr>
            </a:pPr>
            <a:r>
              <a:rPr sz="1800" b="0">
                <a:solidFill>
                  <a:srgbClr val="52677C"/>
                </a:solidFill>
              </a:rPr>
              <a:t>Формулы и числовые цели подлежат согласованию в ролевом интервью.</a:t>
            </a:r>
          </a:p>
        </p:txBody>
      </p:sp>
    </p:spTree>
    <p:extLst>
      <p:ext uri="{BB962C8B-B14F-4D97-AF65-F5344CB8AC3E}">
        <p14:creationId xmlns:p14="http://schemas.microsoft.com/office/powerpoint/2010/main" val="97928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2B1C2-96A1-412F-BA15-61E9638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43"/>
                </a:solidFill>
              </a:defRPr>
            </a:defPPr>
            <a:lvl1pPr>
              <a:defRPr sz="3300" b="1">
                <a:solidFill>
                  <a:srgbClr val="102A43"/>
                </a:solidFill>
              </a:defRPr>
            </a:lvl1pPr>
            <a:lvl2pPr>
              <a:defRPr sz="3300" b="1">
                <a:solidFill>
                  <a:srgbClr val="102A43"/>
                </a:solidFill>
              </a:defRPr>
            </a:lvl2pPr>
            <a:lvl3pPr>
              <a:defRPr sz="3300" b="1">
                <a:solidFill>
                  <a:srgbClr val="102A43"/>
                </a:solidFill>
              </a:defRPr>
            </a:lvl3pPr>
            <a:lvl4pPr>
              <a:defRPr sz="3300" b="1">
                <a:solidFill>
                  <a:srgbClr val="102A43"/>
                </a:solidFill>
              </a:defRPr>
            </a:lvl4pPr>
            <a:lvl5pPr>
              <a:defRPr sz="3300" b="1">
                <a:solidFill>
                  <a:srgbClr val="102A43"/>
                </a:solidFill>
              </a:defRPr>
            </a:lvl5pPr>
            <a:lvl6pPr>
              <a:defRPr sz="3300" b="1">
                <a:solidFill>
                  <a:srgbClr val="102A43"/>
                </a:solidFill>
              </a:defRPr>
            </a:lvl6pPr>
            <a:lvl7pPr>
              <a:defRPr sz="3300" b="1">
                <a:solidFill>
                  <a:srgbClr val="102A43"/>
                </a:solidFill>
              </a:defRPr>
            </a:lvl7pPr>
            <a:lvl8pPr>
              <a:defRPr sz="3300" b="1">
                <a:solidFill>
                  <a:srgbClr val="102A43"/>
                </a:solidFill>
              </a:defRPr>
            </a:lvl8pPr>
            <a:lvl9pPr>
              <a:defRPr sz="33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Роли, истории и сценарии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70E2A-C92E-4338-B466-FDC6176E8E54}"/>
              </a:ext>
            </a:extLst>
          </p:cNvPr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5349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Роль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Область данных и основные действия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Коммерческий директор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Все отделы: KPI, отчёты, экспорт.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Руководитель отдела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Свой отдел: отчёты, экспорт, уведомления.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Менеджер по продажам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Свои сделки: загрузка и просмотр KPI.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Аналитик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Все отделы: загрузка, отчёты, настройки метрик.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Администратор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Учётные записи, роли и права доступа.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26B45-4E43-4EC4-81F3-1BEB7D21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6B87"/>
                </a:solidFill>
              </a:defRPr>
            </a:defPPr>
            <a:lvl1pPr>
              <a:defRPr sz="2100" b="1">
                <a:solidFill>
                  <a:srgbClr val="176B87"/>
                </a:solidFill>
              </a:defRPr>
            </a:lvl1pPr>
            <a:lvl2pPr>
              <a:defRPr sz="2100" b="1">
                <a:solidFill>
                  <a:srgbClr val="176B87"/>
                </a:solidFill>
              </a:defRPr>
            </a:lvl2pPr>
            <a:lvl3pPr>
              <a:defRPr sz="2100" b="1">
                <a:solidFill>
                  <a:srgbClr val="176B87"/>
                </a:solidFill>
              </a:defRPr>
            </a:lvl3pPr>
            <a:lvl4pPr>
              <a:defRPr sz="2100" b="1">
                <a:solidFill>
                  <a:srgbClr val="176B87"/>
                </a:solidFill>
              </a:defRPr>
            </a:lvl4pPr>
            <a:lvl5pPr>
              <a:defRPr sz="2100" b="1">
                <a:solidFill>
                  <a:srgbClr val="176B87"/>
                </a:solidFill>
              </a:defRPr>
            </a:lvl5pPr>
            <a:lvl6pPr>
              <a:defRPr sz="2100" b="1">
                <a:solidFill>
                  <a:srgbClr val="176B87"/>
                </a:solidFill>
              </a:defRPr>
            </a:lvl6pPr>
            <a:lvl7pPr>
              <a:defRPr sz="2100" b="1">
                <a:solidFill>
                  <a:srgbClr val="176B87"/>
                </a:solidFill>
              </a:defRPr>
            </a:lvl7pPr>
            <a:lvl8pPr>
              <a:defRPr sz="2100" b="1">
                <a:solidFill>
                  <a:srgbClr val="176B87"/>
                </a:solidFill>
              </a:defRPr>
            </a:lvl8pPr>
            <a:lvl9pPr>
              <a:defRPr sz="210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6B87"/>
                </a:solidFill>
              </a:defRPr>
            </a:pPr>
            <a:r>
              <a:rPr sz="2100" b="1">
                <a:solidFill>
                  <a:srgbClr val="176B87"/>
                </a:solidFill>
              </a:rPr>
              <a:t>8 User Stories · 21 критерий приёмки · 2 текстовых Use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6E753-06B9-4A89-BDBE-57407E1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Пример US-03: загрузить продажи без ручного сведения таблиц.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5A380-5B4A-42AE-965B-81D54A2F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C"/>
                </a:solidFill>
              </a:defRPr>
            </a:defPPr>
            <a:lvl1pPr>
              <a:defRPr sz="1800" b="0">
                <a:solidFill>
                  <a:srgbClr val="52677C"/>
                </a:solidFill>
              </a:defRPr>
            </a:lvl1pPr>
            <a:lvl2pPr>
              <a:defRPr sz="1800" b="0">
                <a:solidFill>
                  <a:srgbClr val="52677C"/>
                </a:solidFill>
              </a:defRPr>
            </a:lvl2pPr>
            <a:lvl3pPr>
              <a:defRPr sz="1800" b="0">
                <a:solidFill>
                  <a:srgbClr val="52677C"/>
                </a:solidFill>
              </a:defRPr>
            </a:lvl3pPr>
            <a:lvl4pPr>
              <a:defRPr sz="1800" b="0">
                <a:solidFill>
                  <a:srgbClr val="52677C"/>
                </a:solidFill>
              </a:defRPr>
            </a:lvl4pPr>
            <a:lvl5pPr>
              <a:defRPr sz="1800" b="0">
                <a:solidFill>
                  <a:srgbClr val="52677C"/>
                </a:solidFill>
              </a:defRPr>
            </a:lvl5pPr>
            <a:lvl6pPr>
              <a:defRPr sz="1800" b="0">
                <a:solidFill>
                  <a:srgbClr val="52677C"/>
                </a:solidFill>
              </a:defRPr>
            </a:lvl6pPr>
            <a:lvl7pPr>
              <a:defRPr sz="1800" b="0">
                <a:solidFill>
                  <a:srgbClr val="52677C"/>
                </a:solidFill>
              </a:defRPr>
            </a:lvl7pPr>
            <a:lvl8pPr>
              <a:defRPr sz="1800" b="0">
                <a:solidFill>
                  <a:srgbClr val="52677C"/>
                </a:solidFill>
              </a:defRPr>
            </a:lvl8pPr>
            <a:lvl9pPr>
              <a:defRPr sz="1800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C"/>
                </a:solidFill>
              </a:defRPr>
            </a:pPr>
            <a:r>
              <a:rPr sz="1800" b="0">
                <a:solidFill>
                  <a:srgbClr val="52677C"/>
                </a:solidFill>
              </a:rPr>
              <a:t>Given: файл уже загружен. When: загружают его повторно.</a:t>
            </a:r>
          </a:p>
          <a:p xmlns:a="http://schemas.openxmlformats.org/drawingml/2006/main">
            <a:pPr>
              <a:defRPr sz="1800" b="0">
                <a:solidFill>
                  <a:srgbClr val="52677C"/>
                </a:solidFill>
              </a:defRPr>
            </a:pPr>
            <a:r>
              <a:rPr sz="1800" b="0">
                <a:solidFill>
                  <a:srgbClr val="52677C"/>
                </a:solidFill>
              </a:rPr>
              <a:t>Then: продажи не дублируются, KPI не меняются.</a:t>
            </a:r>
          </a:p>
        </p:txBody>
      </p:sp>
    </p:spTree>
    <p:extLst>
      <p:ext uri="{BB962C8B-B14F-4D97-AF65-F5344CB8AC3E}">
        <p14:creationId xmlns:p14="http://schemas.microsoft.com/office/powerpoint/2010/main" val="841711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D6FD0-6FAF-40E3-B578-6B825768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A43"/>
                </a:solidFill>
              </a:defRPr>
            </a:defPPr>
            <a:lvl1pPr>
              <a:defRPr sz="3300" b="1">
                <a:solidFill>
                  <a:srgbClr val="102A43"/>
                </a:solidFill>
              </a:defRPr>
            </a:lvl1pPr>
            <a:lvl2pPr>
              <a:defRPr sz="3300" b="1">
                <a:solidFill>
                  <a:srgbClr val="102A43"/>
                </a:solidFill>
              </a:defRPr>
            </a:lvl2pPr>
            <a:lvl3pPr>
              <a:defRPr sz="3300" b="1">
                <a:solidFill>
                  <a:srgbClr val="102A43"/>
                </a:solidFill>
              </a:defRPr>
            </a:lvl3pPr>
            <a:lvl4pPr>
              <a:defRPr sz="3300" b="1">
                <a:solidFill>
                  <a:srgbClr val="102A43"/>
                </a:solidFill>
              </a:defRPr>
            </a:lvl4pPr>
            <a:lvl5pPr>
              <a:defRPr sz="3300" b="1">
                <a:solidFill>
                  <a:srgbClr val="102A43"/>
                </a:solidFill>
              </a:defRPr>
            </a:lvl5pPr>
            <a:lvl6pPr>
              <a:defRPr sz="3300" b="1">
                <a:solidFill>
                  <a:srgbClr val="102A43"/>
                </a:solidFill>
              </a:defRPr>
            </a:lvl6pPr>
            <a:lvl7pPr>
              <a:defRPr sz="3300" b="1">
                <a:solidFill>
                  <a:srgbClr val="102A43"/>
                </a:solidFill>
              </a:defRPr>
            </a:lvl7pPr>
            <a:lvl8pPr>
              <a:defRPr sz="3300" b="1">
                <a:solidFill>
                  <a:srgbClr val="102A43"/>
                </a:solidFill>
              </a:defRPr>
            </a:lvl8pPr>
            <a:lvl9pPr>
              <a:defRPr sz="33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Backlog и план спринтов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5B750-DC02-479A-825E-B035FB222328}"/>
              </a:ext>
            </a:extLst>
          </p:cNvPr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  <a:gridCol w="4286250"/>
                <a:gridCol w="2190750"/>
                <a:gridCol w="952500"/>
                <a:gridCol w="2324100"/>
              </a:tblGrid>
              <a:tr h="46778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История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MoSCoW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SP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A43"/>
                          </a:solidFill>
                        </a:rPr>
                        <a:t>Спринт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9F2F6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Загрузка продаж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Must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Дашборд KPI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Must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Формирование отчёта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Must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Экспорт в Excel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Should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Управление пользователями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Should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Настройка метрик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Could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Уведомления о KPI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Could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7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US-08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Мобильная версия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Won’t have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1DF6C-5E6A-452C-9840-6AEDABF9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6B87"/>
                </a:solidFill>
              </a:defRPr>
            </a:defPPr>
            <a:lvl1pPr>
              <a:defRPr sz="2100" b="1">
                <a:solidFill>
                  <a:srgbClr val="176B87"/>
                </a:solidFill>
              </a:defRPr>
            </a:lvl1pPr>
            <a:lvl2pPr>
              <a:defRPr sz="2100" b="1">
                <a:solidFill>
                  <a:srgbClr val="176B87"/>
                </a:solidFill>
              </a:defRPr>
            </a:lvl2pPr>
            <a:lvl3pPr>
              <a:defRPr sz="2100" b="1">
                <a:solidFill>
                  <a:srgbClr val="176B87"/>
                </a:solidFill>
              </a:defRPr>
            </a:lvl3pPr>
            <a:lvl4pPr>
              <a:defRPr sz="2100" b="1">
                <a:solidFill>
                  <a:srgbClr val="176B87"/>
                </a:solidFill>
              </a:defRPr>
            </a:lvl4pPr>
            <a:lvl5pPr>
              <a:defRPr sz="2100" b="1">
                <a:solidFill>
                  <a:srgbClr val="176B87"/>
                </a:solidFill>
              </a:defRPr>
            </a:lvl5pPr>
            <a:lvl6pPr>
              <a:defRPr sz="2100" b="1">
                <a:solidFill>
                  <a:srgbClr val="176B87"/>
                </a:solidFill>
              </a:defRPr>
            </a:lvl6pPr>
            <a:lvl7pPr>
              <a:defRPr sz="2100" b="1">
                <a:solidFill>
                  <a:srgbClr val="176B87"/>
                </a:solidFill>
              </a:defRPr>
            </a:lvl7pPr>
            <a:lvl8pPr>
              <a:defRPr sz="2100" b="1">
                <a:solidFill>
                  <a:srgbClr val="176B87"/>
                </a:solidFill>
              </a:defRPr>
            </a:lvl8pPr>
            <a:lvl9pPr>
              <a:defRPr sz="2100" b="1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6B87"/>
                </a:solidFill>
              </a:defRPr>
            </a:pPr>
            <a:r>
              <a:rPr sz="2100" b="1">
                <a:solidFill>
                  <a:srgbClr val="176B87"/>
                </a:solidFill>
              </a:rPr>
              <a:t>Три спринта по 2 недели: 18 SP → 8 SP → 11 SP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CABC2-B577-4FA0-8ED4-536D578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C"/>
                </a:solidFill>
              </a:defRPr>
            </a:defPPr>
            <a:lvl1pPr>
              <a:defRPr sz="1725" b="0">
                <a:solidFill>
                  <a:srgbClr val="52677C"/>
                </a:solidFill>
              </a:defRPr>
            </a:lvl1pPr>
            <a:lvl2pPr>
              <a:defRPr sz="1725" b="0">
                <a:solidFill>
                  <a:srgbClr val="52677C"/>
                </a:solidFill>
              </a:defRPr>
            </a:lvl2pPr>
            <a:lvl3pPr>
              <a:defRPr sz="1725" b="0">
                <a:solidFill>
                  <a:srgbClr val="52677C"/>
                </a:solidFill>
              </a:defRPr>
            </a:lvl3pPr>
            <a:lvl4pPr>
              <a:defRPr sz="1725" b="0">
                <a:solidFill>
                  <a:srgbClr val="52677C"/>
                </a:solidFill>
              </a:defRPr>
            </a:lvl4pPr>
            <a:lvl5pPr>
              <a:defRPr sz="1725" b="0">
                <a:solidFill>
                  <a:srgbClr val="52677C"/>
                </a:solidFill>
              </a:defRPr>
            </a:lvl5pPr>
            <a:lvl6pPr>
              <a:defRPr sz="1725" b="0">
                <a:solidFill>
                  <a:srgbClr val="52677C"/>
                </a:solidFill>
              </a:defRPr>
            </a:lvl6pPr>
            <a:lvl7pPr>
              <a:defRPr sz="1725" b="0">
                <a:solidFill>
                  <a:srgbClr val="52677C"/>
                </a:solidFill>
              </a:defRPr>
            </a:lvl7pPr>
            <a:lvl8pPr>
              <a:defRPr sz="1725" b="0">
                <a:solidFill>
                  <a:srgbClr val="52677C"/>
                </a:solidFill>
              </a:defRPr>
            </a:lvl8pPr>
            <a:lvl9pPr>
              <a:defRPr sz="1725" b="0">
                <a:solidFill>
                  <a:srgbClr val="52677C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C"/>
                </a:solidFill>
              </a:defRPr>
            </a:pPr>
            <a:r>
              <a:rPr sz="1725" b="0">
                <a:solidFill>
                  <a:srgbClr val="52677C"/>
                </a:solidFill>
              </a:rPr>
              <a:t>37 SP в текущем релизе; мобильная версия отложена. SP — относительная сложность, не часы.</a:t>
            </a:r>
          </a:p>
        </p:txBody>
      </p:sp>
    </p:spTree>
    <p:extLst>
      <p:ext uri="{BB962C8B-B14F-4D97-AF65-F5344CB8AC3E}">
        <p14:creationId xmlns:p14="http://schemas.microsoft.com/office/powerpoint/2010/main" val="1675563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2026-10-20T06:28:15.7570000Z</dcterms:created>
  <dcterms:modified xsi:type="dcterms:W3CDTF">2026-10-20T06:28:15.7570000Z</dcterms:modified>
</coreProperties>
</file>